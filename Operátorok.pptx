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7" r:id="rId3"/>
    <p:sldId id="258" r:id="rId4"/>
    <p:sldId id="262" r:id="rId5"/>
    <p:sldId id="259" r:id="rId6"/>
    <p:sldId id="263" r:id="rId7"/>
    <p:sldId id="261" r:id="rId8"/>
    <p:sldId id="264" r:id="rId9"/>
    <p:sldId id="260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D3D9"/>
    <a:srgbClr val="322E3E"/>
    <a:srgbClr val="3494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C3FBA6-731A-4C6F-B7E3-B324D16A19EA}" v="77" dt="2026-10-07T19:09:39.5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139B0-FF70-4C0B-BE35-5086A126F2DB}" type="datetimeFigureOut">
              <a:rPr lang="hu-HU" smtClean="0"/>
              <a:t>2026. 10. 08.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64683-544E-49CE-9C4F-AA048402813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33198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139B0-FF70-4C0B-BE35-5086A126F2DB}" type="datetimeFigureOut">
              <a:rPr lang="hu-HU" smtClean="0"/>
              <a:t>2026. 10. 08.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64531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139B0-FF70-4C0B-BE35-5086A126F2DB}" type="datetimeFigureOut">
              <a:rPr lang="hu-HU" smtClean="0"/>
              <a:t>2026. 10. 08.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64683-544E-49CE-9C4F-AA048402813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7366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139B0-FF70-4C0B-BE35-5086A126F2DB}" type="datetimeFigureOut">
              <a:rPr lang="hu-HU" smtClean="0"/>
              <a:t>2026. 10. 08.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64683-544E-49CE-9C4F-AA048402813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46089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139B0-FF70-4C0B-BE35-5086A126F2DB}" type="datetimeFigureOut">
              <a:rPr lang="hu-HU" smtClean="0"/>
              <a:t>2026. 10. 08.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64683-544E-49CE-9C4F-AA048402813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18032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139B0-FF70-4C0B-BE35-5086A126F2DB}" type="datetimeFigureOut">
              <a:rPr lang="hu-HU" smtClean="0"/>
              <a:t>2026. 10. 08.</a:t>
            </a:fld>
            <a:endParaRPr lang="hu-H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64683-544E-49CE-9C4F-AA048402813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57286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139B0-FF70-4C0B-BE35-5086A126F2DB}" type="datetimeFigureOut">
              <a:rPr lang="hu-HU" smtClean="0"/>
              <a:t>2026. 10. 08.</a:t>
            </a:fld>
            <a:endParaRPr lang="hu-H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64683-544E-49CE-9C4F-AA048402813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51216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139B0-FF70-4C0B-BE35-5086A126F2DB}" type="datetimeFigureOut">
              <a:rPr lang="hu-HU" smtClean="0"/>
              <a:t>2026. 10. 08.</a:t>
            </a:fld>
            <a:endParaRPr lang="hu-H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64683-544E-49CE-9C4F-AA048402813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5748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139B0-FF70-4C0B-BE35-5086A126F2DB}" type="datetimeFigureOut">
              <a:rPr lang="hu-HU" smtClean="0"/>
              <a:t>2026. 10. 08.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64683-544E-49CE-9C4F-AA048402813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97181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139B0-FF70-4C0B-BE35-5086A126F2DB}" type="datetimeFigureOut">
              <a:rPr lang="hu-HU" smtClean="0"/>
              <a:t>2026. 10. 08.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64683-544E-49CE-9C4F-AA048402813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00724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139B0-FF70-4C0B-BE35-5086A126F2DB}" type="datetimeFigureOut">
              <a:rPr lang="hu-HU" smtClean="0"/>
              <a:t>2026. 10. 08.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64683-544E-49CE-9C4F-AA048402813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52651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139B0-FF70-4C0B-BE35-5086A126F2DB}" type="datetimeFigureOut">
              <a:rPr lang="hu-HU" smtClean="0"/>
              <a:t>2026. 10. 08.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64683-544E-49CE-9C4F-AA0484028132}" type="slidenum">
              <a:rPr lang="hu-HU" smtClean="0"/>
              <a:t>‹#›</a:t>
            </a:fld>
            <a:endParaRPr lang="hu-H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94970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139B0-FF70-4C0B-BE35-5086A126F2DB}" type="datetimeFigureOut">
              <a:rPr lang="hu-HU" smtClean="0"/>
              <a:t>2026. 10. 08.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64683-544E-49CE-9C4F-AA048402813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715724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139B0-FF70-4C0B-BE35-5086A126F2DB}" type="datetimeFigureOut">
              <a:rPr lang="hu-HU" smtClean="0"/>
              <a:t>2026. 10. 08.</a:t>
            </a:fld>
            <a:endParaRPr lang="hu-H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64683-544E-49CE-9C4F-AA048402813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41076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139B0-FF70-4C0B-BE35-5086A126F2DB}" type="datetimeFigureOut">
              <a:rPr lang="hu-HU" smtClean="0"/>
              <a:t>2026. 10. 08.</a:t>
            </a:fld>
            <a:endParaRPr lang="hu-H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64683-544E-49CE-9C4F-AA048402813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106405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139B0-FF70-4C0B-BE35-5086A126F2DB}" type="datetimeFigureOut">
              <a:rPr lang="hu-HU" smtClean="0"/>
              <a:t>2026. 10. 08.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64683-544E-49CE-9C4F-AA048402813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067058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139B0-FF70-4C0B-BE35-5086A126F2DB}" type="datetimeFigureOut">
              <a:rPr lang="hu-HU" smtClean="0"/>
              <a:t>2026. 10. 08.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64683-544E-49CE-9C4F-AA048402813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717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C2139B0-FF70-4C0B-BE35-5086A126F2DB}" type="datetimeFigureOut">
              <a:rPr lang="hu-HU" smtClean="0"/>
              <a:t>2026. 10. 08.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064683-544E-49CE-9C4F-AA0484028132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1451689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7" Type="http://schemas.openxmlformats.org/officeDocument/2006/relationships/image" Target="../media/image7.svg"/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slide" Target="slide3.xml"/><Relationship Id="rId4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8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E2773DE-D999-4B40-8737-015A41FB9A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Operátorok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AF300217-3995-49C4-981C-DCC902BD20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Készítette: </a:t>
            </a:r>
            <a:r>
              <a:rPr lang="hu-HU" dirty="0" err="1"/>
              <a:t>Leiter</a:t>
            </a:r>
            <a:r>
              <a:rPr lang="hu-HU" dirty="0"/>
              <a:t> Bence, Csiha Milán Martin</a:t>
            </a:r>
          </a:p>
        </p:txBody>
      </p:sp>
    </p:spTree>
    <p:extLst>
      <p:ext uri="{BB962C8B-B14F-4D97-AF65-F5344CB8AC3E}">
        <p14:creationId xmlns:p14="http://schemas.microsoft.com/office/powerpoint/2010/main" val="43808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églalap: lekerekített 29">
            <a:hlinkClick r:id="rId2" action="ppaction://hlinksldjump"/>
            <a:extLst>
              <a:ext uri="{FF2B5EF4-FFF2-40B4-BE49-F238E27FC236}">
                <a16:creationId xmlns:a16="http://schemas.microsoft.com/office/drawing/2014/main" id="{62F034AB-B7D3-46AE-9F16-38EEBD4F7F1C}"/>
              </a:ext>
            </a:extLst>
          </p:cNvPr>
          <p:cNvSpPr/>
          <p:nvPr/>
        </p:nvSpPr>
        <p:spPr>
          <a:xfrm>
            <a:off x="6483668" y="886847"/>
            <a:ext cx="2136670" cy="697831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7" name="Téglalap: lekerekített 26">
            <a:hlinkClick r:id="rId3" action="ppaction://hlinksldjump"/>
            <a:extLst>
              <a:ext uri="{FF2B5EF4-FFF2-40B4-BE49-F238E27FC236}">
                <a16:creationId xmlns:a16="http://schemas.microsoft.com/office/drawing/2014/main" id="{1C1F23F9-F2C7-41A6-AFCE-1E602ED31C4C}"/>
              </a:ext>
            </a:extLst>
          </p:cNvPr>
          <p:cNvSpPr/>
          <p:nvPr/>
        </p:nvSpPr>
        <p:spPr>
          <a:xfrm>
            <a:off x="9498362" y="901224"/>
            <a:ext cx="2136670" cy="697831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8" name="Téglalap: lekerekített 27">
            <a:hlinkClick r:id="rId4" action="ppaction://hlinksldjump"/>
            <a:extLst>
              <a:ext uri="{FF2B5EF4-FFF2-40B4-BE49-F238E27FC236}">
                <a16:creationId xmlns:a16="http://schemas.microsoft.com/office/drawing/2014/main" id="{CDA9A723-A41A-47BF-874C-45B51C6C369F}"/>
              </a:ext>
            </a:extLst>
          </p:cNvPr>
          <p:cNvSpPr/>
          <p:nvPr/>
        </p:nvSpPr>
        <p:spPr>
          <a:xfrm>
            <a:off x="3487727" y="901225"/>
            <a:ext cx="2136670" cy="697831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9" name="Téglalap: lekerekített 28">
            <a:hlinkClick r:id="rId5" action="ppaction://hlinksldjump"/>
            <a:extLst>
              <a:ext uri="{FF2B5EF4-FFF2-40B4-BE49-F238E27FC236}">
                <a16:creationId xmlns:a16="http://schemas.microsoft.com/office/drawing/2014/main" id="{255E3E81-ABCE-4BB9-9AC3-3DD3198156D9}"/>
              </a:ext>
            </a:extLst>
          </p:cNvPr>
          <p:cNvSpPr/>
          <p:nvPr/>
        </p:nvSpPr>
        <p:spPr>
          <a:xfrm>
            <a:off x="462208" y="901223"/>
            <a:ext cx="2136670" cy="697831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6141D566-A262-4834-9EF8-52CEAD77620D}"/>
              </a:ext>
            </a:extLst>
          </p:cNvPr>
          <p:cNvSpPr txBox="1"/>
          <p:nvPr/>
        </p:nvSpPr>
        <p:spPr>
          <a:xfrm>
            <a:off x="348379" y="1109770"/>
            <a:ext cx="22504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400" dirty="0"/>
              <a:t>Aritmetika</a:t>
            </a:r>
          </a:p>
          <a:p>
            <a:pPr algn="ctr"/>
            <a:r>
              <a:rPr lang="hu-HU" sz="2400" dirty="0"/>
              <a:t>operátorok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727AD1B2-4E0B-49CC-B9DB-34A37344D850}"/>
              </a:ext>
            </a:extLst>
          </p:cNvPr>
          <p:cNvSpPr txBox="1"/>
          <p:nvPr/>
        </p:nvSpPr>
        <p:spPr>
          <a:xfrm>
            <a:off x="3628565" y="1112637"/>
            <a:ext cx="185499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400" dirty="0"/>
              <a:t>Relációs</a:t>
            </a:r>
          </a:p>
          <a:p>
            <a:pPr algn="ctr"/>
            <a:r>
              <a:rPr lang="hu-HU" sz="2400" dirty="0"/>
              <a:t>operátorok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C5F912D0-7A58-4E1C-BE73-5EFAE658704E}"/>
              </a:ext>
            </a:extLst>
          </p:cNvPr>
          <p:cNvSpPr txBox="1"/>
          <p:nvPr/>
        </p:nvSpPr>
        <p:spPr>
          <a:xfrm>
            <a:off x="6624506" y="1095393"/>
            <a:ext cx="185499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400" dirty="0"/>
              <a:t>Logikai</a:t>
            </a:r>
          </a:p>
          <a:p>
            <a:pPr algn="ctr"/>
            <a:r>
              <a:rPr lang="hu-HU" sz="2400" dirty="0"/>
              <a:t>operátorok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A933A3C0-252A-4D2D-9A6E-40F639FA8C75}"/>
              </a:ext>
            </a:extLst>
          </p:cNvPr>
          <p:cNvSpPr txBox="1"/>
          <p:nvPr/>
        </p:nvSpPr>
        <p:spPr>
          <a:xfrm>
            <a:off x="9653577" y="1009130"/>
            <a:ext cx="185499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u-HU" sz="2400" dirty="0"/>
              <a:t>Értékadó</a:t>
            </a:r>
          </a:p>
          <a:p>
            <a:pPr algn="ctr"/>
            <a:r>
              <a:rPr lang="hu-HU" sz="2400" dirty="0"/>
              <a:t>operátorok</a:t>
            </a:r>
          </a:p>
        </p:txBody>
      </p:sp>
      <p:sp>
        <p:nvSpPr>
          <p:cNvPr id="43" name="Összeadás jele 42">
            <a:extLst>
              <a:ext uri="{FF2B5EF4-FFF2-40B4-BE49-F238E27FC236}">
                <a16:creationId xmlns:a16="http://schemas.microsoft.com/office/drawing/2014/main" id="{529E01C6-6610-4BD0-8F42-57A979A68687}"/>
              </a:ext>
            </a:extLst>
          </p:cNvPr>
          <p:cNvSpPr/>
          <p:nvPr/>
        </p:nvSpPr>
        <p:spPr>
          <a:xfrm>
            <a:off x="803539" y="2422358"/>
            <a:ext cx="1458529" cy="1572126"/>
          </a:xfrm>
          <a:prstGeom prst="mathPlus">
            <a:avLst>
              <a:gd name="adj1" fmla="val 12521"/>
            </a:avLst>
          </a:prstGeom>
          <a:solidFill>
            <a:srgbClr val="322E3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46" name="Csoportba foglalás 45">
            <a:extLst>
              <a:ext uri="{FF2B5EF4-FFF2-40B4-BE49-F238E27FC236}">
                <a16:creationId xmlns:a16="http://schemas.microsoft.com/office/drawing/2014/main" id="{86B92E1C-90AB-47E9-8270-AC3A6953512A}"/>
              </a:ext>
            </a:extLst>
          </p:cNvPr>
          <p:cNvGrpSpPr/>
          <p:nvPr/>
        </p:nvGrpSpPr>
        <p:grpSpPr>
          <a:xfrm>
            <a:off x="3783764" y="2855494"/>
            <a:ext cx="1544596" cy="705854"/>
            <a:chOff x="3628565" y="2903620"/>
            <a:chExt cx="1544596" cy="705854"/>
          </a:xfrm>
          <a:solidFill>
            <a:srgbClr val="322E3E"/>
          </a:solidFill>
        </p:grpSpPr>
        <p:sp>
          <p:nvSpPr>
            <p:cNvPr id="44" name="Egyenlőségjel 43">
              <a:extLst>
                <a:ext uri="{FF2B5EF4-FFF2-40B4-BE49-F238E27FC236}">
                  <a16:creationId xmlns:a16="http://schemas.microsoft.com/office/drawing/2014/main" id="{08B7BD14-C3DB-406D-A43B-AF7C0C3F2F1A}"/>
                </a:ext>
              </a:extLst>
            </p:cNvPr>
            <p:cNvSpPr/>
            <p:nvPr/>
          </p:nvSpPr>
          <p:spPr>
            <a:xfrm>
              <a:off x="3628565" y="2903621"/>
              <a:ext cx="783014" cy="705853"/>
            </a:xfrm>
            <a:prstGeom prst="mathEqual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solidFill>
                  <a:schemeClr val="tx1"/>
                </a:solidFill>
              </a:endParaRPr>
            </a:p>
          </p:txBody>
        </p:sp>
        <p:sp>
          <p:nvSpPr>
            <p:cNvPr id="45" name="Egyenlőségjel 44">
              <a:extLst>
                <a:ext uri="{FF2B5EF4-FFF2-40B4-BE49-F238E27FC236}">
                  <a16:creationId xmlns:a16="http://schemas.microsoft.com/office/drawing/2014/main" id="{13D38B20-7494-46C3-B91D-A89E71D302E1}"/>
                </a:ext>
              </a:extLst>
            </p:cNvPr>
            <p:cNvSpPr/>
            <p:nvPr/>
          </p:nvSpPr>
          <p:spPr>
            <a:xfrm>
              <a:off x="4390147" y="2903620"/>
              <a:ext cx="783014" cy="705853"/>
            </a:xfrm>
            <a:prstGeom prst="mathEqual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solidFill>
                  <a:schemeClr val="tx1"/>
                </a:solidFill>
              </a:endParaRPr>
            </a:p>
          </p:txBody>
        </p:sp>
      </p:grpSp>
      <p:sp>
        <p:nvSpPr>
          <p:cNvPr id="50" name="Egyenlőségjel 49">
            <a:extLst>
              <a:ext uri="{FF2B5EF4-FFF2-40B4-BE49-F238E27FC236}">
                <a16:creationId xmlns:a16="http://schemas.microsoft.com/office/drawing/2014/main" id="{06643F96-6F2A-4336-AF24-D8A1808DB07A}"/>
              </a:ext>
            </a:extLst>
          </p:cNvPr>
          <p:cNvSpPr/>
          <p:nvPr/>
        </p:nvSpPr>
        <p:spPr>
          <a:xfrm>
            <a:off x="10570358" y="2754853"/>
            <a:ext cx="783014" cy="705853"/>
          </a:xfrm>
          <a:prstGeom prst="mathEqual">
            <a:avLst/>
          </a:prstGeom>
          <a:solidFill>
            <a:srgbClr val="322E3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51" name="Összeadás jele 50">
            <a:extLst>
              <a:ext uri="{FF2B5EF4-FFF2-40B4-BE49-F238E27FC236}">
                <a16:creationId xmlns:a16="http://schemas.microsoft.com/office/drawing/2014/main" id="{A63938B9-5BDB-4068-A3CE-4A11909B6876}"/>
              </a:ext>
            </a:extLst>
          </p:cNvPr>
          <p:cNvSpPr/>
          <p:nvPr/>
        </p:nvSpPr>
        <p:spPr>
          <a:xfrm>
            <a:off x="9696322" y="2602453"/>
            <a:ext cx="947029" cy="1010651"/>
          </a:xfrm>
          <a:prstGeom prst="mathPlus">
            <a:avLst>
              <a:gd name="adj1" fmla="val 12521"/>
            </a:avLst>
          </a:prstGeom>
          <a:solidFill>
            <a:srgbClr val="322E3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2" name="Egyenlőségjel 51">
            <a:extLst>
              <a:ext uri="{FF2B5EF4-FFF2-40B4-BE49-F238E27FC236}">
                <a16:creationId xmlns:a16="http://schemas.microsoft.com/office/drawing/2014/main" id="{6B39D287-BD2E-4713-83B6-8C2B7B4C3CBD}"/>
              </a:ext>
            </a:extLst>
          </p:cNvPr>
          <p:cNvSpPr/>
          <p:nvPr/>
        </p:nvSpPr>
        <p:spPr>
          <a:xfrm rot="5400000">
            <a:off x="6636096" y="2688715"/>
            <a:ext cx="1831813" cy="1010653"/>
          </a:xfrm>
          <a:prstGeom prst="mathEqual">
            <a:avLst/>
          </a:prstGeom>
          <a:solidFill>
            <a:srgbClr val="322E3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2" name="Ábra 1">
            <a:extLst>
              <a:ext uri="{FF2B5EF4-FFF2-40B4-BE49-F238E27FC236}">
                <a16:creationId xmlns:a16="http://schemas.microsoft.com/office/drawing/2014/main" id="{5A543267-7A25-43A9-3981-8407AE87F63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76423" y="4495800"/>
            <a:ext cx="914400" cy="914400"/>
          </a:xfrm>
          <a:prstGeom prst="rect">
            <a:avLst/>
          </a:prstGeom>
        </p:spPr>
      </p:pic>
      <p:pic>
        <p:nvPicPr>
          <p:cNvPr id="3" name="Ábra 2">
            <a:extLst>
              <a:ext uri="{FF2B5EF4-FFF2-40B4-BE49-F238E27FC236}">
                <a16:creationId xmlns:a16="http://schemas.microsoft.com/office/drawing/2014/main" id="{A5F046EB-03BE-05E1-78C4-518AA5323BD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95668" y="4495799"/>
            <a:ext cx="914400" cy="914400"/>
          </a:xfrm>
          <a:prstGeom prst="rect">
            <a:avLst/>
          </a:prstGeom>
        </p:spPr>
      </p:pic>
      <p:pic>
        <p:nvPicPr>
          <p:cNvPr id="8" name="Ábra 7">
            <a:extLst>
              <a:ext uri="{FF2B5EF4-FFF2-40B4-BE49-F238E27FC236}">
                <a16:creationId xmlns:a16="http://schemas.microsoft.com/office/drawing/2014/main" id="{9D9F4BC5-0606-8A51-9EFC-E6B84B5D7D6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99738" y="449579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416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54D1819-01DE-46E3-B4FE-F3742A9A2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625246"/>
            <a:ext cx="9404723" cy="1400530"/>
          </a:xfrm>
        </p:spPr>
        <p:txBody>
          <a:bodyPr/>
          <a:lstStyle/>
          <a:p>
            <a:r>
              <a:rPr lang="hu-HU" sz="4400" dirty="0"/>
              <a:t>Aritmetikai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BA53340-3F0D-466D-BED2-DCC99E955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0897" y="1334050"/>
            <a:ext cx="8946541" cy="468431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hu-HU" sz="2400" b="1" dirty="0"/>
              <a:t>A alapvető matematikai számítások elvégzésére szolgálnak.</a:t>
            </a:r>
          </a:p>
          <a:p>
            <a:pPr marL="0" indent="0">
              <a:buNone/>
            </a:pPr>
            <a:endParaRPr lang="hu-HU" sz="2400" b="1" dirty="0"/>
          </a:p>
          <a:p>
            <a:pPr marL="0" indent="0">
              <a:buNone/>
            </a:pPr>
            <a:r>
              <a:rPr lang="hu-HU" sz="2400" dirty="0"/>
              <a:t>• Szorzás (*)</a:t>
            </a:r>
            <a:endParaRPr lang="en-US" sz="2400" dirty="0"/>
          </a:p>
          <a:p>
            <a:pPr marL="0" indent="0">
              <a:buClr>
                <a:srgbClr val="AAA7BC"/>
              </a:buClr>
              <a:buNone/>
            </a:pPr>
            <a:r>
              <a:rPr lang="hu-HU" sz="2400" dirty="0"/>
              <a:t>• Osztás (/)</a:t>
            </a:r>
            <a:endParaRPr lang="en-US" sz="2400" dirty="0"/>
          </a:p>
          <a:p>
            <a:pPr marL="0" indent="0">
              <a:buClr>
                <a:srgbClr val="AAA7BC"/>
              </a:buClr>
              <a:buNone/>
            </a:pPr>
            <a:r>
              <a:rPr lang="hu-HU" sz="2400" dirty="0"/>
              <a:t>• Maradékos osztás (%)</a:t>
            </a:r>
            <a:endParaRPr lang="en-US" sz="2400" dirty="0"/>
          </a:p>
          <a:p>
            <a:pPr marL="0" indent="0">
              <a:buClr>
                <a:srgbClr val="AAA7BC"/>
              </a:buClr>
              <a:buNone/>
            </a:pPr>
            <a:r>
              <a:rPr lang="hu-HU" sz="2400" dirty="0"/>
              <a:t>--------------------------------------------------------------------------------------</a:t>
            </a:r>
          </a:p>
          <a:p>
            <a:pPr marL="0" indent="0">
              <a:buNone/>
            </a:pPr>
            <a:r>
              <a:rPr lang="hu-HU" sz="2400" dirty="0"/>
              <a:t>• Összeadás (+)</a:t>
            </a:r>
            <a:endParaRPr lang="hu-HU" dirty="0"/>
          </a:p>
          <a:p>
            <a:pPr marL="0" indent="0">
              <a:buNone/>
            </a:pPr>
            <a:r>
              <a:rPr lang="hu-HU" sz="2400" dirty="0"/>
              <a:t>• Kivonás (-)</a:t>
            </a:r>
            <a:endParaRPr lang="hu-HU" dirty="0"/>
          </a:p>
        </p:txBody>
      </p:sp>
      <p:sp>
        <p:nvSpPr>
          <p:cNvPr id="15" name="Nyíl: jobbra mutató 14">
            <a:extLst>
              <a:ext uri="{FF2B5EF4-FFF2-40B4-BE49-F238E27FC236}">
                <a16:creationId xmlns:a16="http://schemas.microsoft.com/office/drawing/2014/main" id="{133C330B-648F-47D2-893C-B8477DA6306A}"/>
              </a:ext>
            </a:extLst>
          </p:cNvPr>
          <p:cNvSpPr/>
          <p:nvPr/>
        </p:nvSpPr>
        <p:spPr>
          <a:xfrm>
            <a:off x="7171146" y="450360"/>
            <a:ext cx="1809749" cy="781049"/>
          </a:xfrm>
          <a:prstGeom prst="rightArrow">
            <a:avLst/>
          </a:prstGeom>
          <a:noFill/>
          <a:ln w="571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Téglalap: lekerekített 15">
            <a:hlinkClick r:id="rId2" action="ppaction://hlinksldjump"/>
            <a:extLst>
              <a:ext uri="{FF2B5EF4-FFF2-40B4-BE49-F238E27FC236}">
                <a16:creationId xmlns:a16="http://schemas.microsoft.com/office/drawing/2014/main" id="{1E268A6D-F2F9-406B-AAF4-C3FE48332F90}"/>
              </a:ext>
            </a:extLst>
          </p:cNvPr>
          <p:cNvSpPr/>
          <p:nvPr/>
        </p:nvSpPr>
        <p:spPr>
          <a:xfrm>
            <a:off x="10106864" y="5342465"/>
            <a:ext cx="922867" cy="905934"/>
          </a:xfrm>
          <a:prstGeom prst="roundRect">
            <a:avLst>
              <a:gd name="adj" fmla="val 35359"/>
            </a:avLst>
          </a:prstGeom>
          <a:noFill/>
          <a:ln w="57150">
            <a:solidFill>
              <a:srgbClr val="9BD3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7" name="Egyenes összekötő nyíllal 16">
            <a:hlinkClick r:id="rId2" action="ppaction://hlinksldjump"/>
            <a:extLst>
              <a:ext uri="{FF2B5EF4-FFF2-40B4-BE49-F238E27FC236}">
                <a16:creationId xmlns:a16="http://schemas.microsoft.com/office/drawing/2014/main" id="{A18518DB-F306-497E-9B3F-21456DB879D0}"/>
              </a:ext>
            </a:extLst>
          </p:cNvPr>
          <p:cNvCxnSpPr/>
          <p:nvPr/>
        </p:nvCxnSpPr>
        <p:spPr>
          <a:xfrm>
            <a:off x="10578662" y="5503332"/>
            <a:ext cx="0" cy="584200"/>
          </a:xfrm>
          <a:prstGeom prst="straightConnector1">
            <a:avLst/>
          </a:prstGeom>
          <a:ln w="76200">
            <a:solidFill>
              <a:srgbClr val="9BD3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églalap: lekerekített 17">
            <a:hlinkClick r:id="rId3" action="ppaction://hlinksldjump"/>
            <a:extLst>
              <a:ext uri="{FF2B5EF4-FFF2-40B4-BE49-F238E27FC236}">
                <a16:creationId xmlns:a16="http://schemas.microsoft.com/office/drawing/2014/main" id="{FD2ED3F7-9F2A-4BDF-9EC2-011C3038B50F}"/>
              </a:ext>
            </a:extLst>
          </p:cNvPr>
          <p:cNvSpPr/>
          <p:nvPr/>
        </p:nvSpPr>
        <p:spPr>
          <a:xfrm>
            <a:off x="10106864" y="764241"/>
            <a:ext cx="922867" cy="905934"/>
          </a:xfrm>
          <a:prstGeom prst="roundRect">
            <a:avLst>
              <a:gd name="adj" fmla="val 35359"/>
            </a:avLst>
          </a:prstGeom>
          <a:noFill/>
          <a:ln w="57150">
            <a:solidFill>
              <a:srgbClr val="9BD3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9" name="Egyenes összekötő nyíllal 18">
            <a:hlinkClick r:id="rId3" action="ppaction://hlinksldjump"/>
            <a:extLst>
              <a:ext uri="{FF2B5EF4-FFF2-40B4-BE49-F238E27FC236}">
                <a16:creationId xmlns:a16="http://schemas.microsoft.com/office/drawing/2014/main" id="{E2F63BE8-D6BC-4366-AE3E-DE513E3DF65F}"/>
              </a:ext>
            </a:extLst>
          </p:cNvPr>
          <p:cNvCxnSpPr>
            <a:cxnSpLocks/>
          </p:cNvCxnSpPr>
          <p:nvPr/>
        </p:nvCxnSpPr>
        <p:spPr>
          <a:xfrm flipV="1">
            <a:off x="10578662" y="925108"/>
            <a:ext cx="0" cy="584200"/>
          </a:xfrm>
          <a:prstGeom prst="straightConnector1">
            <a:avLst/>
          </a:prstGeom>
          <a:ln w="76200">
            <a:solidFill>
              <a:srgbClr val="9BD3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3364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Tartalom helye 10">
            <a:extLst>
              <a:ext uri="{FF2B5EF4-FFF2-40B4-BE49-F238E27FC236}">
                <a16:creationId xmlns:a16="http://schemas.microsoft.com/office/drawing/2014/main" id="{8A5B3575-DD17-4898-A99C-F87C2B2B5F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1251" y="2550095"/>
            <a:ext cx="6611273" cy="3200847"/>
          </a:xfrm>
        </p:spPr>
      </p:pic>
      <p:sp>
        <p:nvSpPr>
          <p:cNvPr id="4" name="Cím 1">
            <a:extLst>
              <a:ext uri="{FF2B5EF4-FFF2-40B4-BE49-F238E27FC236}">
                <a16:creationId xmlns:a16="http://schemas.microsoft.com/office/drawing/2014/main" id="{CF3D763F-9340-4EA6-B5B1-D97006CAB171}"/>
              </a:ext>
            </a:extLst>
          </p:cNvPr>
          <p:cNvSpPr txBox="1">
            <a:spLocks/>
          </p:cNvSpPr>
          <p:nvPr/>
        </p:nvSpPr>
        <p:spPr>
          <a:xfrm>
            <a:off x="646111" y="625246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 sz="4400"/>
              <a:t>Aritmetikai</a:t>
            </a:r>
            <a:endParaRPr lang="hu-HU" dirty="0"/>
          </a:p>
        </p:txBody>
      </p:sp>
      <p:sp>
        <p:nvSpPr>
          <p:cNvPr id="5" name="Nyíl: jobbra mutató 4">
            <a:extLst>
              <a:ext uri="{FF2B5EF4-FFF2-40B4-BE49-F238E27FC236}">
                <a16:creationId xmlns:a16="http://schemas.microsoft.com/office/drawing/2014/main" id="{2683F786-965E-4ACA-9F10-C59938824A95}"/>
              </a:ext>
            </a:extLst>
          </p:cNvPr>
          <p:cNvSpPr/>
          <p:nvPr/>
        </p:nvSpPr>
        <p:spPr>
          <a:xfrm>
            <a:off x="7171146" y="450360"/>
            <a:ext cx="1809749" cy="781049"/>
          </a:xfrm>
          <a:prstGeom prst="rightArrow">
            <a:avLst/>
          </a:prstGeom>
          <a:noFill/>
          <a:ln w="571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Téglalap: lekerekített 7">
            <a:hlinkClick r:id="rId3" action="ppaction://hlinksldjump"/>
            <a:extLst>
              <a:ext uri="{FF2B5EF4-FFF2-40B4-BE49-F238E27FC236}">
                <a16:creationId xmlns:a16="http://schemas.microsoft.com/office/drawing/2014/main" id="{0669EBD7-9CD4-4D6D-A3D9-FCB9D3FC67E7}"/>
              </a:ext>
            </a:extLst>
          </p:cNvPr>
          <p:cNvSpPr/>
          <p:nvPr/>
        </p:nvSpPr>
        <p:spPr>
          <a:xfrm>
            <a:off x="10106864" y="764241"/>
            <a:ext cx="922867" cy="905934"/>
          </a:xfrm>
          <a:prstGeom prst="roundRect">
            <a:avLst>
              <a:gd name="adj" fmla="val 35359"/>
            </a:avLst>
          </a:prstGeom>
          <a:noFill/>
          <a:ln w="57150">
            <a:solidFill>
              <a:srgbClr val="9BD3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9" name="Egyenes összekötő nyíllal 8">
            <a:hlinkClick r:id="rId3" action="ppaction://hlinksldjump"/>
            <a:extLst>
              <a:ext uri="{FF2B5EF4-FFF2-40B4-BE49-F238E27FC236}">
                <a16:creationId xmlns:a16="http://schemas.microsoft.com/office/drawing/2014/main" id="{E276D908-2009-4B71-8B6A-08973A81A60A}"/>
              </a:ext>
            </a:extLst>
          </p:cNvPr>
          <p:cNvCxnSpPr>
            <a:cxnSpLocks/>
          </p:cNvCxnSpPr>
          <p:nvPr/>
        </p:nvCxnSpPr>
        <p:spPr>
          <a:xfrm flipV="1">
            <a:off x="10578662" y="925108"/>
            <a:ext cx="0" cy="584200"/>
          </a:xfrm>
          <a:prstGeom prst="straightConnector1">
            <a:avLst/>
          </a:prstGeom>
          <a:ln w="76200">
            <a:solidFill>
              <a:srgbClr val="9BD3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6443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DAC2425-E65B-4268-B736-34B9C56FE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z="4400" dirty="0"/>
              <a:t>Relációs operátorok</a:t>
            </a:r>
            <a:br>
              <a:rPr lang="hu-HU" sz="4400" dirty="0"/>
            </a:b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3E5B82E-1F40-4BC6-B2E8-2195B1FB3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3702" y="1458187"/>
            <a:ext cx="8946541" cy="47902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hu-HU" sz="2400" b="1" dirty="0"/>
              <a:t>Két érték viszonyát vizsgálják, az eredményük általában igaz (true) vagy hamis (false).</a:t>
            </a:r>
          </a:p>
          <a:p>
            <a:pPr marL="0" indent="0">
              <a:buNone/>
            </a:pPr>
            <a:endParaRPr lang="hu-HU" sz="2400" b="1" dirty="0"/>
          </a:p>
          <a:p>
            <a:pPr marL="0" indent="0">
              <a:buNone/>
            </a:pPr>
            <a:r>
              <a:rPr lang="hu-HU" sz="2400" dirty="0"/>
              <a:t>• Kisebb (&lt;) / Nagyobb (&gt;)</a:t>
            </a:r>
          </a:p>
          <a:p>
            <a:pPr marL="0" indent="0">
              <a:buNone/>
            </a:pPr>
            <a:r>
              <a:rPr lang="hu-HU" sz="2400" dirty="0"/>
              <a:t>• Kisebb vagy egyenlő (&lt;=) </a:t>
            </a:r>
          </a:p>
          <a:p>
            <a:pPr marL="0" indent="0">
              <a:buNone/>
            </a:pPr>
            <a:r>
              <a:rPr lang="hu-HU" sz="2400" dirty="0"/>
              <a:t>• Nagyobb vagy egyenlő (&gt;=)</a:t>
            </a:r>
            <a:endParaRPr lang="hu-HU" dirty="0"/>
          </a:p>
          <a:p>
            <a:pPr marL="0" indent="0">
              <a:buNone/>
            </a:pPr>
            <a:r>
              <a:rPr lang="hu-HU" sz="2400" dirty="0"/>
              <a:t>-------------------------------------------------------------------------------------</a:t>
            </a:r>
          </a:p>
          <a:p>
            <a:pPr marL="0" indent="0">
              <a:buClr>
                <a:srgbClr val="AAA7BC"/>
              </a:buClr>
              <a:buNone/>
            </a:pPr>
            <a:r>
              <a:rPr lang="hu-HU" sz="2400" dirty="0"/>
              <a:t>• Nem egyenlő (!=)</a:t>
            </a:r>
            <a:r>
              <a:rPr lang="en-US" sz="2400" dirty="0"/>
              <a:t> </a:t>
            </a:r>
            <a:endParaRPr lang="hu-HU" sz="2400" dirty="0"/>
          </a:p>
          <a:p>
            <a:pPr marL="0" indent="0">
              <a:buClr>
                <a:srgbClr val="AAA7BC"/>
              </a:buClr>
              <a:buNone/>
            </a:pPr>
            <a:r>
              <a:rPr lang="hu-HU" sz="2400" dirty="0"/>
              <a:t>• Egyenlő (==)</a:t>
            </a:r>
            <a:endParaRPr lang="en-US" sz="2400" dirty="0"/>
          </a:p>
          <a:p>
            <a:pPr marL="0" indent="0">
              <a:buNone/>
            </a:pPr>
            <a:endParaRPr lang="hu-HU" sz="2400" dirty="0"/>
          </a:p>
          <a:p>
            <a:pPr>
              <a:buClr>
                <a:srgbClr val="AAA7BC"/>
              </a:buClr>
            </a:pPr>
            <a:endParaRPr lang="hu-HU" sz="2400" dirty="0"/>
          </a:p>
        </p:txBody>
      </p:sp>
      <p:sp>
        <p:nvSpPr>
          <p:cNvPr id="5" name="Nyíl: jobbra mutató 4">
            <a:extLst>
              <a:ext uri="{FF2B5EF4-FFF2-40B4-BE49-F238E27FC236}">
                <a16:creationId xmlns:a16="http://schemas.microsoft.com/office/drawing/2014/main" id="{CE48B4E2-49BE-DAED-05C1-9200F4C9D801}"/>
              </a:ext>
            </a:extLst>
          </p:cNvPr>
          <p:cNvSpPr/>
          <p:nvPr/>
        </p:nvSpPr>
        <p:spPr>
          <a:xfrm>
            <a:off x="7171146" y="450360"/>
            <a:ext cx="1809749" cy="781049"/>
          </a:xfrm>
          <a:prstGeom prst="rightArrow">
            <a:avLst/>
          </a:prstGeom>
          <a:noFill/>
          <a:ln w="571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Téglalap: lekerekített 3">
            <a:hlinkClick r:id="rId2" action="ppaction://hlinksldjump"/>
            <a:extLst>
              <a:ext uri="{FF2B5EF4-FFF2-40B4-BE49-F238E27FC236}">
                <a16:creationId xmlns:a16="http://schemas.microsoft.com/office/drawing/2014/main" id="{AA6F17D0-E42B-479A-A8BA-3DE51BA263E4}"/>
              </a:ext>
            </a:extLst>
          </p:cNvPr>
          <p:cNvSpPr/>
          <p:nvPr/>
        </p:nvSpPr>
        <p:spPr>
          <a:xfrm>
            <a:off x="10106864" y="5342465"/>
            <a:ext cx="922867" cy="905934"/>
          </a:xfrm>
          <a:prstGeom prst="roundRect">
            <a:avLst>
              <a:gd name="adj" fmla="val 35359"/>
            </a:avLst>
          </a:prstGeom>
          <a:noFill/>
          <a:ln w="57150">
            <a:solidFill>
              <a:srgbClr val="9BD3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7" name="Egyenes összekötő nyíllal 6">
            <a:hlinkClick r:id="rId2" action="ppaction://hlinksldjump"/>
            <a:extLst>
              <a:ext uri="{FF2B5EF4-FFF2-40B4-BE49-F238E27FC236}">
                <a16:creationId xmlns:a16="http://schemas.microsoft.com/office/drawing/2014/main" id="{E6FF0DDF-DA8A-4B92-965E-526B0856DFA1}"/>
              </a:ext>
            </a:extLst>
          </p:cNvPr>
          <p:cNvCxnSpPr/>
          <p:nvPr/>
        </p:nvCxnSpPr>
        <p:spPr>
          <a:xfrm>
            <a:off x="10578662" y="5503332"/>
            <a:ext cx="0" cy="584200"/>
          </a:xfrm>
          <a:prstGeom prst="straightConnector1">
            <a:avLst/>
          </a:prstGeom>
          <a:ln w="76200">
            <a:solidFill>
              <a:srgbClr val="9BD3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églalap: lekerekített 10">
            <a:hlinkClick r:id="rId3" action="ppaction://hlinksldjump"/>
            <a:extLst>
              <a:ext uri="{FF2B5EF4-FFF2-40B4-BE49-F238E27FC236}">
                <a16:creationId xmlns:a16="http://schemas.microsoft.com/office/drawing/2014/main" id="{D3D3AE5E-54E8-409F-85EB-3569A340B9A2}"/>
              </a:ext>
            </a:extLst>
          </p:cNvPr>
          <p:cNvSpPr/>
          <p:nvPr/>
        </p:nvSpPr>
        <p:spPr>
          <a:xfrm>
            <a:off x="10106864" y="764241"/>
            <a:ext cx="922867" cy="905934"/>
          </a:xfrm>
          <a:prstGeom prst="roundRect">
            <a:avLst>
              <a:gd name="adj" fmla="val 35359"/>
            </a:avLst>
          </a:prstGeom>
          <a:noFill/>
          <a:ln w="57150">
            <a:solidFill>
              <a:srgbClr val="9BD3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2" name="Egyenes összekötő nyíllal 11">
            <a:hlinkClick r:id="rId3" action="ppaction://hlinksldjump"/>
            <a:extLst>
              <a:ext uri="{FF2B5EF4-FFF2-40B4-BE49-F238E27FC236}">
                <a16:creationId xmlns:a16="http://schemas.microsoft.com/office/drawing/2014/main" id="{159C5C4D-5578-441A-AEA9-CBE6171E7321}"/>
              </a:ext>
            </a:extLst>
          </p:cNvPr>
          <p:cNvCxnSpPr>
            <a:cxnSpLocks/>
          </p:cNvCxnSpPr>
          <p:nvPr/>
        </p:nvCxnSpPr>
        <p:spPr>
          <a:xfrm flipV="1">
            <a:off x="10578662" y="925108"/>
            <a:ext cx="0" cy="584200"/>
          </a:xfrm>
          <a:prstGeom prst="straightConnector1">
            <a:avLst/>
          </a:prstGeom>
          <a:ln w="76200">
            <a:solidFill>
              <a:srgbClr val="9BD3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4850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Tartalom helye 14">
            <a:extLst>
              <a:ext uri="{FF2B5EF4-FFF2-40B4-BE49-F238E27FC236}">
                <a16:creationId xmlns:a16="http://schemas.microsoft.com/office/drawing/2014/main" id="{4D1E3670-F084-4195-A1D9-DF05B366AF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5341" y="2320189"/>
            <a:ext cx="5811061" cy="2962688"/>
          </a:xfrm>
        </p:spPr>
      </p:pic>
      <p:sp>
        <p:nvSpPr>
          <p:cNvPr id="8" name="Cím 1">
            <a:extLst>
              <a:ext uri="{FF2B5EF4-FFF2-40B4-BE49-F238E27FC236}">
                <a16:creationId xmlns:a16="http://schemas.microsoft.com/office/drawing/2014/main" id="{E17BE35B-4543-4D57-A515-E6C578B52F60}"/>
              </a:ext>
            </a:extLst>
          </p:cNvPr>
          <p:cNvSpPr txBox="1">
            <a:spLocks/>
          </p:cNvSpPr>
          <p:nvPr/>
        </p:nvSpPr>
        <p:spPr>
          <a:xfrm>
            <a:off x="798511" y="6051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 sz="4400" dirty="0"/>
              <a:t>Relációs operátorok</a:t>
            </a:r>
            <a:br>
              <a:rPr lang="hu-HU" sz="4400" dirty="0"/>
            </a:br>
            <a:endParaRPr lang="hu-HU" dirty="0"/>
          </a:p>
        </p:txBody>
      </p:sp>
      <p:sp>
        <p:nvSpPr>
          <p:cNvPr id="9" name="Nyíl: jobbra mutató 8">
            <a:extLst>
              <a:ext uri="{FF2B5EF4-FFF2-40B4-BE49-F238E27FC236}">
                <a16:creationId xmlns:a16="http://schemas.microsoft.com/office/drawing/2014/main" id="{8356F618-800F-4C99-B76D-5353C75412AE}"/>
              </a:ext>
            </a:extLst>
          </p:cNvPr>
          <p:cNvSpPr/>
          <p:nvPr/>
        </p:nvSpPr>
        <p:spPr>
          <a:xfrm>
            <a:off x="7171146" y="450360"/>
            <a:ext cx="1809749" cy="781049"/>
          </a:xfrm>
          <a:prstGeom prst="rightArrow">
            <a:avLst/>
          </a:prstGeom>
          <a:noFill/>
          <a:ln w="571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Téglalap: lekerekített 11">
            <a:hlinkClick r:id="rId3" action="ppaction://hlinksldjump"/>
            <a:extLst>
              <a:ext uri="{FF2B5EF4-FFF2-40B4-BE49-F238E27FC236}">
                <a16:creationId xmlns:a16="http://schemas.microsoft.com/office/drawing/2014/main" id="{EE77185B-D163-4DFD-B535-AD3BB74B11C6}"/>
              </a:ext>
            </a:extLst>
          </p:cNvPr>
          <p:cNvSpPr/>
          <p:nvPr/>
        </p:nvSpPr>
        <p:spPr>
          <a:xfrm>
            <a:off x="10106864" y="764241"/>
            <a:ext cx="922867" cy="905934"/>
          </a:xfrm>
          <a:prstGeom prst="roundRect">
            <a:avLst>
              <a:gd name="adj" fmla="val 35359"/>
            </a:avLst>
          </a:prstGeom>
          <a:noFill/>
          <a:ln w="57150">
            <a:solidFill>
              <a:srgbClr val="9BD3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3" name="Egyenes összekötő nyíllal 12">
            <a:hlinkClick r:id="rId3" action="ppaction://hlinksldjump"/>
            <a:extLst>
              <a:ext uri="{FF2B5EF4-FFF2-40B4-BE49-F238E27FC236}">
                <a16:creationId xmlns:a16="http://schemas.microsoft.com/office/drawing/2014/main" id="{94863C4A-3E5C-48E8-8967-645B918D23EE}"/>
              </a:ext>
            </a:extLst>
          </p:cNvPr>
          <p:cNvCxnSpPr>
            <a:cxnSpLocks/>
          </p:cNvCxnSpPr>
          <p:nvPr/>
        </p:nvCxnSpPr>
        <p:spPr>
          <a:xfrm flipV="1">
            <a:off x="10578662" y="925108"/>
            <a:ext cx="0" cy="584200"/>
          </a:xfrm>
          <a:prstGeom prst="straightConnector1">
            <a:avLst/>
          </a:prstGeom>
          <a:ln w="76200">
            <a:solidFill>
              <a:srgbClr val="9BD3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3152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953DC61-E574-40F8-8F6F-D14C2DD01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z="4400" dirty="0"/>
              <a:t>Logikai operátorok</a:t>
            </a:r>
            <a:br>
              <a:rPr lang="hu-HU" sz="4400" dirty="0"/>
            </a:b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209D0DD-88D0-4616-ABD7-62A9BED96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41954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hu-HU" sz="2400" b="1" dirty="0"/>
              <a:t>Logikai feltételeket kapcsolnak össze, eredményük egy újabb logikai igaz (</a:t>
            </a:r>
            <a:r>
              <a:rPr lang="hu-HU" sz="2400" b="1" err="1"/>
              <a:t>true</a:t>
            </a:r>
            <a:r>
              <a:rPr lang="hu-HU" sz="2400" b="1" dirty="0"/>
              <a:t>) vagy hamis (</a:t>
            </a:r>
            <a:r>
              <a:rPr lang="hu-HU" sz="2400" b="1" err="1"/>
              <a:t>false</a:t>
            </a:r>
            <a:r>
              <a:rPr lang="hu-HU" sz="2400" b="1" dirty="0"/>
              <a:t>) érték.</a:t>
            </a:r>
            <a:endParaRPr lang="hu-HU"/>
          </a:p>
          <a:p>
            <a:pPr>
              <a:buNone/>
            </a:pPr>
            <a:r>
              <a:rPr lang="hu-HU" sz="2400"/>
              <a:t>• Nem / Tagadás (! vagy NOT)</a:t>
            </a:r>
            <a:endParaRPr lang="hu-HU" sz="240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hu-HU" sz="2400" dirty="0"/>
              <a:t>--------------------------------------------------------------------------------------</a:t>
            </a:r>
            <a:endParaRPr lang="hu-HU"/>
          </a:p>
          <a:p>
            <a:pPr>
              <a:buNone/>
            </a:pPr>
            <a:r>
              <a:rPr lang="hu-HU" sz="2400"/>
              <a:t>• És (&amp;&amp; vagy AND)</a:t>
            </a:r>
            <a:endParaRPr lang="hu-HU" sz="240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hu-HU" sz="2400"/>
              <a:t>--------------------------------------------------------------------------------------</a:t>
            </a:r>
            <a:endParaRPr lang="hu-HU" sz="2400">
              <a:solidFill>
                <a:srgbClr val="000000"/>
              </a:solidFill>
            </a:endParaRPr>
          </a:p>
          <a:p>
            <a:pPr>
              <a:buNone/>
            </a:pPr>
            <a:r>
              <a:rPr lang="hu-HU" sz="2400">
                <a:solidFill>
                  <a:srgbClr val="FFFFFF"/>
                </a:solidFill>
              </a:rPr>
              <a:t>• Vagy (|| vagy OR)</a:t>
            </a:r>
            <a:endParaRPr lang="hu-HU" sz="2400">
              <a:solidFill>
                <a:srgbClr val="000000"/>
              </a:solidFill>
            </a:endParaRPr>
          </a:p>
        </p:txBody>
      </p:sp>
      <p:sp>
        <p:nvSpPr>
          <p:cNvPr id="6" name="Nyíl: jobbra mutató 5">
            <a:extLst>
              <a:ext uri="{FF2B5EF4-FFF2-40B4-BE49-F238E27FC236}">
                <a16:creationId xmlns:a16="http://schemas.microsoft.com/office/drawing/2014/main" id="{3842B6E0-E749-4ECE-8794-889B6D7FB744}"/>
              </a:ext>
            </a:extLst>
          </p:cNvPr>
          <p:cNvSpPr/>
          <p:nvPr/>
        </p:nvSpPr>
        <p:spPr>
          <a:xfrm flipH="1">
            <a:off x="7171146" y="450360"/>
            <a:ext cx="1809749" cy="781049"/>
          </a:xfrm>
          <a:prstGeom prst="rightArrow">
            <a:avLst/>
          </a:prstGeom>
          <a:noFill/>
          <a:ln w="571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Téglalap: lekerekített 6">
            <a:hlinkClick r:id="rId2" action="ppaction://hlinksldjump"/>
            <a:extLst>
              <a:ext uri="{FF2B5EF4-FFF2-40B4-BE49-F238E27FC236}">
                <a16:creationId xmlns:a16="http://schemas.microsoft.com/office/drawing/2014/main" id="{977DCC72-F5E1-4C8B-9C8C-EEB634A2A250}"/>
              </a:ext>
            </a:extLst>
          </p:cNvPr>
          <p:cNvSpPr/>
          <p:nvPr/>
        </p:nvSpPr>
        <p:spPr>
          <a:xfrm>
            <a:off x="10106864" y="5342465"/>
            <a:ext cx="922867" cy="905934"/>
          </a:xfrm>
          <a:prstGeom prst="roundRect">
            <a:avLst>
              <a:gd name="adj" fmla="val 35359"/>
            </a:avLst>
          </a:prstGeom>
          <a:noFill/>
          <a:ln w="57150">
            <a:solidFill>
              <a:srgbClr val="9BD3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8" name="Egyenes összekötő nyíllal 7">
            <a:hlinkClick r:id="rId2" action="ppaction://hlinksldjump"/>
            <a:extLst>
              <a:ext uri="{FF2B5EF4-FFF2-40B4-BE49-F238E27FC236}">
                <a16:creationId xmlns:a16="http://schemas.microsoft.com/office/drawing/2014/main" id="{E5869AC1-849A-44DB-8A02-B0FD9B77A36F}"/>
              </a:ext>
            </a:extLst>
          </p:cNvPr>
          <p:cNvCxnSpPr/>
          <p:nvPr/>
        </p:nvCxnSpPr>
        <p:spPr>
          <a:xfrm>
            <a:off x="10578662" y="5503332"/>
            <a:ext cx="0" cy="584200"/>
          </a:xfrm>
          <a:prstGeom prst="straightConnector1">
            <a:avLst/>
          </a:prstGeom>
          <a:ln w="76200">
            <a:solidFill>
              <a:srgbClr val="9BD3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églalap: lekerekített 8">
            <a:hlinkClick r:id="rId3" action="ppaction://hlinksldjump"/>
            <a:extLst>
              <a:ext uri="{FF2B5EF4-FFF2-40B4-BE49-F238E27FC236}">
                <a16:creationId xmlns:a16="http://schemas.microsoft.com/office/drawing/2014/main" id="{0BE2D3B4-66EF-4B01-86AF-7C649272DBAE}"/>
              </a:ext>
            </a:extLst>
          </p:cNvPr>
          <p:cNvSpPr/>
          <p:nvPr/>
        </p:nvSpPr>
        <p:spPr>
          <a:xfrm>
            <a:off x="10106864" y="764241"/>
            <a:ext cx="922867" cy="905934"/>
          </a:xfrm>
          <a:prstGeom prst="roundRect">
            <a:avLst>
              <a:gd name="adj" fmla="val 35359"/>
            </a:avLst>
          </a:prstGeom>
          <a:noFill/>
          <a:ln w="57150">
            <a:solidFill>
              <a:srgbClr val="9BD3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0" name="Egyenes összekötő nyíllal 9">
            <a:hlinkClick r:id="rId3" action="ppaction://hlinksldjump"/>
            <a:extLst>
              <a:ext uri="{FF2B5EF4-FFF2-40B4-BE49-F238E27FC236}">
                <a16:creationId xmlns:a16="http://schemas.microsoft.com/office/drawing/2014/main" id="{831E89AA-E89A-483C-A097-7F336B4811DF}"/>
              </a:ext>
            </a:extLst>
          </p:cNvPr>
          <p:cNvCxnSpPr>
            <a:cxnSpLocks/>
          </p:cNvCxnSpPr>
          <p:nvPr/>
        </p:nvCxnSpPr>
        <p:spPr>
          <a:xfrm flipV="1">
            <a:off x="10578662" y="925108"/>
            <a:ext cx="0" cy="584200"/>
          </a:xfrm>
          <a:prstGeom prst="straightConnector1">
            <a:avLst/>
          </a:prstGeom>
          <a:ln w="76200">
            <a:solidFill>
              <a:srgbClr val="9BD3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6137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Tartalom helye 9">
            <a:extLst>
              <a:ext uri="{FF2B5EF4-FFF2-40B4-BE49-F238E27FC236}">
                <a16:creationId xmlns:a16="http://schemas.microsoft.com/office/drawing/2014/main" id="{CC49BD6C-5B06-42C0-AE06-AF69134879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2845" y="2793999"/>
            <a:ext cx="7116053" cy="1741308"/>
          </a:xfrm>
        </p:spPr>
      </p:pic>
      <p:sp>
        <p:nvSpPr>
          <p:cNvPr id="4" name="Cím 1">
            <a:extLst>
              <a:ext uri="{FF2B5EF4-FFF2-40B4-BE49-F238E27FC236}">
                <a16:creationId xmlns:a16="http://schemas.microsoft.com/office/drawing/2014/main" id="{891CA641-AFA5-4D90-8801-2E97BB138C51}"/>
              </a:ext>
            </a:extLst>
          </p:cNvPr>
          <p:cNvSpPr txBox="1">
            <a:spLocks/>
          </p:cNvSpPr>
          <p:nvPr/>
        </p:nvSpPr>
        <p:spPr>
          <a:xfrm>
            <a:off x="798511" y="6051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 sz="4400"/>
              <a:t>Logikai operátorok</a:t>
            </a:r>
            <a:br>
              <a:rPr lang="hu-HU" sz="4400"/>
            </a:br>
            <a:endParaRPr lang="hu-HU" dirty="0"/>
          </a:p>
        </p:txBody>
      </p:sp>
      <p:sp>
        <p:nvSpPr>
          <p:cNvPr id="5" name="Nyíl: jobbra mutató 4">
            <a:extLst>
              <a:ext uri="{FF2B5EF4-FFF2-40B4-BE49-F238E27FC236}">
                <a16:creationId xmlns:a16="http://schemas.microsoft.com/office/drawing/2014/main" id="{879C7EF6-8B4B-4C64-9F6A-89CADD9FA2C1}"/>
              </a:ext>
            </a:extLst>
          </p:cNvPr>
          <p:cNvSpPr/>
          <p:nvPr/>
        </p:nvSpPr>
        <p:spPr>
          <a:xfrm flipH="1">
            <a:off x="7171146" y="450360"/>
            <a:ext cx="1809749" cy="781049"/>
          </a:xfrm>
          <a:prstGeom prst="rightArrow">
            <a:avLst/>
          </a:prstGeom>
          <a:noFill/>
          <a:ln w="571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Téglalap: lekerekített 5">
            <a:hlinkClick r:id="rId3" action="ppaction://hlinksldjump"/>
            <a:extLst>
              <a:ext uri="{FF2B5EF4-FFF2-40B4-BE49-F238E27FC236}">
                <a16:creationId xmlns:a16="http://schemas.microsoft.com/office/drawing/2014/main" id="{FE0A7B11-EB94-4F18-9FC7-D993F0221222}"/>
              </a:ext>
            </a:extLst>
          </p:cNvPr>
          <p:cNvSpPr/>
          <p:nvPr/>
        </p:nvSpPr>
        <p:spPr>
          <a:xfrm>
            <a:off x="10106864" y="764241"/>
            <a:ext cx="922867" cy="905934"/>
          </a:xfrm>
          <a:prstGeom prst="roundRect">
            <a:avLst>
              <a:gd name="adj" fmla="val 35359"/>
            </a:avLst>
          </a:prstGeom>
          <a:noFill/>
          <a:ln w="57150">
            <a:solidFill>
              <a:srgbClr val="9BD3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7" name="Egyenes összekötő nyíllal 6">
            <a:hlinkClick r:id="rId3" action="ppaction://hlinksldjump"/>
            <a:extLst>
              <a:ext uri="{FF2B5EF4-FFF2-40B4-BE49-F238E27FC236}">
                <a16:creationId xmlns:a16="http://schemas.microsoft.com/office/drawing/2014/main" id="{5696115C-8ACD-476E-908B-0F564A0A0FA6}"/>
              </a:ext>
            </a:extLst>
          </p:cNvPr>
          <p:cNvCxnSpPr>
            <a:cxnSpLocks/>
          </p:cNvCxnSpPr>
          <p:nvPr/>
        </p:nvCxnSpPr>
        <p:spPr>
          <a:xfrm flipV="1">
            <a:off x="10578662" y="925108"/>
            <a:ext cx="0" cy="584200"/>
          </a:xfrm>
          <a:prstGeom prst="straightConnector1">
            <a:avLst/>
          </a:prstGeom>
          <a:ln w="76200">
            <a:solidFill>
              <a:srgbClr val="9BD3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199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2CC00BE-9EFF-43A2-A2B2-B3F16DF3C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z="4400" dirty="0"/>
              <a:t>Értékadó operátorok</a:t>
            </a:r>
            <a:br>
              <a:rPr lang="hu-HU" sz="4400" dirty="0"/>
            </a:b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99AAB7B-A431-4499-AF5A-5FEC5E23F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41954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hu-HU" sz="2400" b="1" dirty="0"/>
              <a:t>Egy változónak adnak értéket, vagy egy meglévő változó értékét módosítják egy művelet segítségével.</a:t>
            </a:r>
          </a:p>
          <a:p>
            <a:pPr marL="0" indent="0">
              <a:buNone/>
            </a:pPr>
            <a:r>
              <a:rPr lang="hu-HU" sz="2400" dirty="0"/>
              <a:t>• Egyszerű értékadás (=)</a:t>
            </a:r>
          </a:p>
          <a:p>
            <a:pPr marL="0" indent="0">
              <a:buNone/>
            </a:pPr>
            <a:r>
              <a:rPr lang="hu-HU" sz="2400" dirty="0"/>
              <a:t>• Növelő értékadás / Hozzáadás (+=)</a:t>
            </a:r>
          </a:p>
          <a:p>
            <a:pPr marL="0" indent="0">
              <a:buNone/>
            </a:pPr>
            <a:r>
              <a:rPr lang="hu-HU" sz="2400" dirty="0"/>
              <a:t>• Csökkentő értékadás / Kivonás (-=)</a:t>
            </a:r>
          </a:p>
        </p:txBody>
      </p:sp>
      <p:sp>
        <p:nvSpPr>
          <p:cNvPr id="6" name="Nyíl: jobbra mutató 5">
            <a:extLst>
              <a:ext uri="{FF2B5EF4-FFF2-40B4-BE49-F238E27FC236}">
                <a16:creationId xmlns:a16="http://schemas.microsoft.com/office/drawing/2014/main" id="{73CCC624-B14A-4EA4-B60F-9F2CF324AD61}"/>
              </a:ext>
            </a:extLst>
          </p:cNvPr>
          <p:cNvSpPr/>
          <p:nvPr/>
        </p:nvSpPr>
        <p:spPr>
          <a:xfrm>
            <a:off x="7171146" y="450360"/>
            <a:ext cx="1809749" cy="781049"/>
          </a:xfrm>
          <a:prstGeom prst="rightArrow">
            <a:avLst/>
          </a:prstGeom>
          <a:noFill/>
          <a:ln w="571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Téglalap: lekerekített 6">
            <a:hlinkClick r:id="rId2" action="ppaction://hlinksldjump"/>
            <a:extLst>
              <a:ext uri="{FF2B5EF4-FFF2-40B4-BE49-F238E27FC236}">
                <a16:creationId xmlns:a16="http://schemas.microsoft.com/office/drawing/2014/main" id="{78A2D8B5-F029-47E9-A9F8-187CBE7986F2}"/>
              </a:ext>
            </a:extLst>
          </p:cNvPr>
          <p:cNvSpPr/>
          <p:nvPr/>
        </p:nvSpPr>
        <p:spPr>
          <a:xfrm>
            <a:off x="10106864" y="5342465"/>
            <a:ext cx="922867" cy="905934"/>
          </a:xfrm>
          <a:prstGeom prst="roundRect">
            <a:avLst>
              <a:gd name="adj" fmla="val 35359"/>
            </a:avLst>
          </a:prstGeom>
          <a:noFill/>
          <a:ln w="57150">
            <a:solidFill>
              <a:srgbClr val="9BD3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8" name="Egyenes összekötő nyíllal 7">
            <a:hlinkClick r:id="rId2" action="ppaction://hlinksldjump"/>
            <a:extLst>
              <a:ext uri="{FF2B5EF4-FFF2-40B4-BE49-F238E27FC236}">
                <a16:creationId xmlns:a16="http://schemas.microsoft.com/office/drawing/2014/main" id="{5DF819B1-1E20-4BB7-A0C1-E684887432BE}"/>
              </a:ext>
            </a:extLst>
          </p:cNvPr>
          <p:cNvCxnSpPr/>
          <p:nvPr/>
        </p:nvCxnSpPr>
        <p:spPr>
          <a:xfrm>
            <a:off x="10578662" y="5528732"/>
            <a:ext cx="0" cy="584200"/>
          </a:xfrm>
          <a:prstGeom prst="straightConnector1">
            <a:avLst/>
          </a:prstGeom>
          <a:ln w="76200">
            <a:solidFill>
              <a:srgbClr val="9BD3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églalap: lekerekített 8">
            <a:hlinkClick r:id="rId3" action="ppaction://hlinksldjump"/>
            <a:extLst>
              <a:ext uri="{FF2B5EF4-FFF2-40B4-BE49-F238E27FC236}">
                <a16:creationId xmlns:a16="http://schemas.microsoft.com/office/drawing/2014/main" id="{61C2C5D7-3B41-458A-975F-58C31AC442F4}"/>
              </a:ext>
            </a:extLst>
          </p:cNvPr>
          <p:cNvSpPr/>
          <p:nvPr/>
        </p:nvSpPr>
        <p:spPr>
          <a:xfrm>
            <a:off x="10106864" y="764241"/>
            <a:ext cx="922867" cy="905934"/>
          </a:xfrm>
          <a:prstGeom prst="roundRect">
            <a:avLst>
              <a:gd name="adj" fmla="val 35359"/>
            </a:avLst>
          </a:prstGeom>
          <a:noFill/>
          <a:ln w="57150">
            <a:solidFill>
              <a:srgbClr val="9BD3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0" name="Egyenes összekötő nyíllal 9">
            <a:hlinkClick r:id="rId3" action="ppaction://hlinksldjump"/>
            <a:extLst>
              <a:ext uri="{FF2B5EF4-FFF2-40B4-BE49-F238E27FC236}">
                <a16:creationId xmlns:a16="http://schemas.microsoft.com/office/drawing/2014/main" id="{679C8E9B-7950-4C45-8229-BCC9C9E421A6}"/>
              </a:ext>
            </a:extLst>
          </p:cNvPr>
          <p:cNvCxnSpPr>
            <a:cxnSpLocks/>
          </p:cNvCxnSpPr>
          <p:nvPr/>
        </p:nvCxnSpPr>
        <p:spPr>
          <a:xfrm flipV="1">
            <a:off x="10578662" y="925108"/>
            <a:ext cx="0" cy="584200"/>
          </a:xfrm>
          <a:prstGeom prst="straightConnector1">
            <a:avLst/>
          </a:prstGeom>
          <a:ln w="76200">
            <a:solidFill>
              <a:srgbClr val="9BD3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23394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Tartalom helye 8">
            <a:extLst>
              <a:ext uri="{FF2B5EF4-FFF2-40B4-BE49-F238E27FC236}">
                <a16:creationId xmlns:a16="http://schemas.microsoft.com/office/drawing/2014/main" id="{0CA544B4-7700-4BD0-A04D-21930EEBC1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4752" y="2912096"/>
            <a:ext cx="5344271" cy="2476846"/>
          </a:xfrm>
        </p:spPr>
      </p:pic>
      <p:sp>
        <p:nvSpPr>
          <p:cNvPr id="4" name="Cím 1">
            <a:extLst>
              <a:ext uri="{FF2B5EF4-FFF2-40B4-BE49-F238E27FC236}">
                <a16:creationId xmlns:a16="http://schemas.microsoft.com/office/drawing/2014/main" id="{848869D6-7C53-4DB4-B95E-8D614CCFC385}"/>
              </a:ext>
            </a:extLst>
          </p:cNvPr>
          <p:cNvSpPr txBox="1">
            <a:spLocks/>
          </p:cNvSpPr>
          <p:nvPr/>
        </p:nvSpPr>
        <p:spPr>
          <a:xfrm>
            <a:off x="798511" y="6051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 sz="4400"/>
              <a:t>Értékadó operátorok</a:t>
            </a:r>
            <a:br>
              <a:rPr lang="hu-HU" sz="4400"/>
            </a:br>
            <a:endParaRPr lang="hu-HU" dirty="0"/>
          </a:p>
        </p:txBody>
      </p:sp>
      <p:sp>
        <p:nvSpPr>
          <p:cNvPr id="5" name="Nyíl: jobbra mutató 4">
            <a:extLst>
              <a:ext uri="{FF2B5EF4-FFF2-40B4-BE49-F238E27FC236}">
                <a16:creationId xmlns:a16="http://schemas.microsoft.com/office/drawing/2014/main" id="{B4CFEC00-E558-4BEC-A8CD-044C997EE802}"/>
              </a:ext>
            </a:extLst>
          </p:cNvPr>
          <p:cNvSpPr/>
          <p:nvPr/>
        </p:nvSpPr>
        <p:spPr>
          <a:xfrm>
            <a:off x="7171146" y="450360"/>
            <a:ext cx="1809749" cy="781049"/>
          </a:xfrm>
          <a:prstGeom prst="rightArrow">
            <a:avLst/>
          </a:prstGeom>
          <a:noFill/>
          <a:ln w="571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Téglalap: lekerekített 5">
            <a:hlinkClick r:id="rId3" action="ppaction://hlinksldjump"/>
            <a:extLst>
              <a:ext uri="{FF2B5EF4-FFF2-40B4-BE49-F238E27FC236}">
                <a16:creationId xmlns:a16="http://schemas.microsoft.com/office/drawing/2014/main" id="{707AF207-AD2E-476F-A537-6EFA634639E2}"/>
              </a:ext>
            </a:extLst>
          </p:cNvPr>
          <p:cNvSpPr/>
          <p:nvPr/>
        </p:nvSpPr>
        <p:spPr>
          <a:xfrm>
            <a:off x="10106864" y="764241"/>
            <a:ext cx="922867" cy="905934"/>
          </a:xfrm>
          <a:prstGeom prst="roundRect">
            <a:avLst>
              <a:gd name="adj" fmla="val 35359"/>
            </a:avLst>
          </a:prstGeom>
          <a:noFill/>
          <a:ln w="57150">
            <a:solidFill>
              <a:srgbClr val="9BD3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7" name="Egyenes összekötő nyíllal 6">
            <a:hlinkClick r:id="rId3" action="ppaction://hlinksldjump"/>
            <a:extLst>
              <a:ext uri="{FF2B5EF4-FFF2-40B4-BE49-F238E27FC236}">
                <a16:creationId xmlns:a16="http://schemas.microsoft.com/office/drawing/2014/main" id="{D6B15A1C-F8F0-482E-8CE0-55DC0FCFD490}"/>
              </a:ext>
            </a:extLst>
          </p:cNvPr>
          <p:cNvCxnSpPr>
            <a:cxnSpLocks/>
          </p:cNvCxnSpPr>
          <p:nvPr/>
        </p:nvCxnSpPr>
        <p:spPr>
          <a:xfrm flipV="1">
            <a:off x="10578662" y="925108"/>
            <a:ext cx="0" cy="584200"/>
          </a:xfrm>
          <a:prstGeom prst="straightConnector1">
            <a:avLst/>
          </a:prstGeom>
          <a:ln w="76200">
            <a:solidFill>
              <a:srgbClr val="9BD3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49843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Kék–zöld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0</TotalTime>
  <Words>175</Words>
  <Application>Microsoft Office PowerPoint</Application>
  <PresentationFormat>Szélesvásznú</PresentationFormat>
  <Paragraphs>44</Paragraphs>
  <Slides>10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Ion</vt:lpstr>
      <vt:lpstr>Operátorok</vt:lpstr>
      <vt:lpstr>PowerPoint-bemutató</vt:lpstr>
      <vt:lpstr>Aritmetikai</vt:lpstr>
      <vt:lpstr>PowerPoint-bemutató</vt:lpstr>
      <vt:lpstr>Relációs operátorok </vt:lpstr>
      <vt:lpstr>PowerPoint-bemutató</vt:lpstr>
      <vt:lpstr>Logikai operátorok </vt:lpstr>
      <vt:lpstr>PowerPoint-bemutató</vt:lpstr>
      <vt:lpstr>Értékadó operátorok 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Operátorok</dc:title>
  <dc:creator>Csiha Milán</dc:creator>
  <cp:lastModifiedBy>Csiha Milán</cp:lastModifiedBy>
  <cp:revision>93</cp:revision>
  <dcterms:created xsi:type="dcterms:W3CDTF">2026-10-01T10:27:21Z</dcterms:created>
  <dcterms:modified xsi:type="dcterms:W3CDTF">2026-10-08T11:49:07Z</dcterms:modified>
</cp:coreProperties>
</file>